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iew from inside a stone structure, looking out towards stairs and a clear, blue sky"/>
          <p:cNvSpPr/>
          <p:nvPr>
            <p:ph type="pic" idx="21"/>
          </p:nvPr>
        </p:nvSpPr>
        <p:spPr>
          <a:xfrm>
            <a:off x="0" y="-1270000"/>
            <a:ext cx="24384000" cy="16272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 modern white building with glass panels against a clear, blue sky"/>
          <p:cNvSpPr/>
          <p:nvPr>
            <p:ph type="pic" idx="21"/>
          </p:nvPr>
        </p:nvSpPr>
        <p:spPr>
          <a:xfrm>
            <a:off x="92710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Small section of a modern shell bridge in Qingdao, Shandong, China with a partly cloudy sky above"/>
          <p:cNvSpPr/>
          <p:nvPr>
            <p:ph type="pic" idx="22"/>
          </p:nvPr>
        </p:nvSpPr>
        <p:spPr>
          <a:xfrm>
            <a:off x="9271000" y="1263848"/>
            <a:ext cx="16773843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Low-angle exterior view of a modern building facade covered with aluminium discs under a clear, blue sky"/>
          <p:cNvSpPr/>
          <p:nvPr>
            <p:ph type="pic" sz="quarter" idx="21"/>
          </p:nvPr>
        </p:nvSpPr>
        <p:spPr>
          <a:xfrm>
            <a:off x="15417800" y="1270000"/>
            <a:ext cx="8144934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Low-angle view of a modern, curved building under a cloudy sky"/>
          <p:cNvSpPr/>
          <p:nvPr>
            <p:ph type="pic" sz="quarter" idx="22"/>
          </p:nvPr>
        </p:nvSpPr>
        <p:spPr>
          <a:xfrm>
            <a:off x="15443200" y="7086600"/>
            <a:ext cx="8138580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View from inside a modern white building with glass panels, looking up to a bright, partly cloudy sky"/>
          <p:cNvSpPr/>
          <p:nvPr>
            <p:ph type="pic" idx="23"/>
          </p:nvPr>
        </p:nvSpPr>
        <p:spPr>
          <a:xfrm>
            <a:off x="-124635" y="1270000"/>
            <a:ext cx="16840169" cy="1124371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Low-angle view of the Azadi Tower in Tehran, Iran against a clear, bright sky"/>
          <p:cNvSpPr/>
          <p:nvPr>
            <p:ph type="pic" idx="21"/>
          </p:nvPr>
        </p:nvSpPr>
        <p:spPr>
          <a:xfrm>
            <a:off x="0" y="-1282700"/>
            <a:ext cx="24384000" cy="16281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Daniil Ustiuhov, Kyrylo Pryiomyshev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Daniil Ustiuhov, Kyrylo Pryiomyshev</a:t>
            </a:r>
          </a:p>
        </p:txBody>
      </p:sp>
      <p:sp>
        <p:nvSpPr>
          <p:cNvPr id="172" name="SHOPWATCHER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SHOPWATCHER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roject overview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pc="-174" sz="8730"/>
            </a:lvl1pPr>
          </a:lstStyle>
          <a:p>
            <a:pPr/>
            <a:r>
              <a:t>Project overview</a:t>
            </a:r>
          </a:p>
        </p:txBody>
      </p:sp>
      <p:sp>
        <p:nvSpPr>
          <p:cNvPr id="175" name="ShopWatcher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7000"/>
            </a:pPr>
            <a:r>
              <a:t>ShopWatcher</a:t>
            </a:r>
          </a:p>
          <a:p>
            <a:pPr marL="609600" indent="-609600">
              <a:defRPr sz="7000"/>
            </a:pPr>
            <a:r>
              <a:t>Mobile + Web</a:t>
            </a:r>
          </a:p>
          <a:p>
            <a:pPr marL="609600" indent="-609600">
              <a:defRPr sz="7000"/>
            </a:pPr>
            <a:r>
              <a:t>Price Monitoring</a:t>
            </a:r>
          </a:p>
          <a:p>
            <a:pPr marL="609600" indent="-609600">
              <a:defRPr sz="7000"/>
            </a:pPr>
            <a:r>
              <a:t>Main Stores in Estonia</a:t>
            </a:r>
          </a:p>
          <a:p>
            <a:pPr marL="609600" indent="-609600">
              <a:defRPr sz="7000"/>
            </a:pPr>
            <a:r>
              <a:t>6-month development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roject Goal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pc="-174" sz="8730"/>
            </a:lvl1pPr>
          </a:lstStyle>
          <a:p>
            <a:pPr/>
            <a:r>
              <a:t>Project Goals</a:t>
            </a:r>
          </a:p>
        </p:txBody>
      </p:sp>
      <p:sp>
        <p:nvSpPr>
          <p:cNvPr id="178" name="Price collection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20624" indent="-420624" defTabSz="1682453">
              <a:spcBef>
                <a:spcPts val="3100"/>
              </a:spcBef>
              <a:defRPr sz="4830"/>
            </a:pPr>
            <a:r>
              <a:t>Price collection</a:t>
            </a:r>
          </a:p>
          <a:p>
            <a:pPr marL="420624" indent="-420624" defTabSz="1682453">
              <a:spcBef>
                <a:spcPts val="3100"/>
              </a:spcBef>
              <a:defRPr sz="4830"/>
            </a:pPr>
            <a:r>
              <a:t>Discount monitoring</a:t>
            </a:r>
          </a:p>
          <a:p>
            <a:pPr marL="420624" indent="-420624" defTabSz="1682453">
              <a:spcBef>
                <a:spcPts val="3100"/>
              </a:spcBef>
              <a:defRPr sz="4830"/>
            </a:pPr>
            <a:r>
              <a:t>Price history</a:t>
            </a:r>
          </a:p>
          <a:p>
            <a:pPr marL="420624" indent="-420624" defTabSz="1682453">
              <a:spcBef>
                <a:spcPts val="3100"/>
              </a:spcBef>
              <a:defRPr sz="4830"/>
            </a:pPr>
            <a:r>
              <a:t>Product comparison</a:t>
            </a:r>
          </a:p>
          <a:p>
            <a:pPr marL="420624" indent="-420624" defTabSz="1682453">
              <a:spcBef>
                <a:spcPts val="3100"/>
              </a:spcBef>
              <a:defRPr sz="4830"/>
            </a:pPr>
            <a:r>
              <a:t>Search</a:t>
            </a:r>
          </a:p>
          <a:p>
            <a:pPr marL="420624" indent="-420624" defTabSz="1682453">
              <a:spcBef>
                <a:spcPts val="3100"/>
              </a:spcBef>
              <a:defRPr sz="4830"/>
            </a:pPr>
            <a:r>
              <a:t>Favorites</a:t>
            </a:r>
          </a:p>
          <a:p>
            <a:pPr marL="420624" indent="-420624" defTabSz="1682453">
              <a:spcBef>
                <a:spcPts val="3100"/>
              </a:spcBef>
              <a:defRPr sz="4830"/>
            </a:pPr>
            <a:r>
              <a:t>Notification</a:t>
            </a:r>
          </a:p>
          <a:p>
            <a:pPr marL="420624" indent="-420624" defTabSz="1682453">
              <a:spcBef>
                <a:spcPts val="3100"/>
              </a:spcBef>
              <a:defRPr sz="4830"/>
            </a:pPr>
            <a:r>
              <a:t>Web + Mobile</a:t>
            </a:r>
          </a:p>
        </p:txBody>
      </p:sp>
      <p:sp>
        <p:nvSpPr>
          <p:cNvPr id="179" name="Functional"/>
          <p:cNvSpPr txBox="1"/>
          <p:nvPr/>
        </p:nvSpPr>
        <p:spPr>
          <a:xfrm>
            <a:off x="1206500" y="2372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586104">
              <a:lnSpc>
                <a:spcPct val="100000"/>
              </a:lnSpc>
              <a:spcBef>
                <a:spcPts val="0"/>
              </a:spcBef>
              <a:defRPr b="1" sz="5680"/>
            </a:lvl1pPr>
          </a:lstStyle>
          <a:p>
            <a:pPr/>
            <a:r>
              <a:t>Functional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roject Goal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pc="-174" sz="8730"/>
            </a:lvl1pPr>
          </a:lstStyle>
          <a:p>
            <a:pPr/>
            <a:r>
              <a:t>Project Goals</a:t>
            </a:r>
          </a:p>
        </p:txBody>
      </p:sp>
      <p:sp>
        <p:nvSpPr>
          <p:cNvPr id="182" name="Business &amp; Technology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586104">
              <a:defRPr sz="5680"/>
            </a:lvl1pPr>
          </a:lstStyle>
          <a:p>
            <a:pPr/>
            <a:r>
              <a:t>Business &amp; Technology</a:t>
            </a:r>
          </a:p>
        </p:txBody>
      </p:sp>
      <p:sp>
        <p:nvSpPr>
          <p:cNvPr id="183" name="MVP - 3 month…"/>
          <p:cNvSpPr txBox="1"/>
          <p:nvPr>
            <p:ph type="body" sz="quarter" idx="1"/>
          </p:nvPr>
        </p:nvSpPr>
        <p:spPr>
          <a:xfrm>
            <a:off x="1206500" y="5343166"/>
            <a:ext cx="9972352" cy="6066687"/>
          </a:xfrm>
          <a:prstGeom prst="rect">
            <a:avLst/>
          </a:prstGeom>
        </p:spPr>
        <p:txBody>
          <a:bodyPr/>
          <a:lstStyle/>
          <a:p>
            <a:pPr marL="609600" indent="-609600">
              <a:defRPr sz="7000"/>
            </a:pPr>
            <a:r>
              <a:t>MVP - 3 month</a:t>
            </a:r>
          </a:p>
          <a:p>
            <a:pPr marL="609600" indent="-609600">
              <a:defRPr sz="7000"/>
            </a:pPr>
            <a:r>
              <a:t>Full version - 6 month</a:t>
            </a:r>
          </a:p>
          <a:p>
            <a:pPr marL="609600" indent="-609600">
              <a:defRPr sz="7000"/>
            </a:pPr>
            <a:r>
              <a:t>Subscription</a:t>
            </a:r>
          </a:p>
          <a:p>
            <a:pPr marL="609600" indent="-609600">
              <a:defRPr sz="7000"/>
            </a:pPr>
            <a:r>
              <a:t>Minimum costs</a:t>
            </a:r>
          </a:p>
        </p:txBody>
      </p:sp>
      <p:sp>
        <p:nvSpPr>
          <p:cNvPr id="184" name="Cloud storage…"/>
          <p:cNvSpPr txBox="1"/>
          <p:nvPr/>
        </p:nvSpPr>
        <p:spPr>
          <a:xfrm>
            <a:off x="12868446" y="5343166"/>
            <a:ext cx="9972352" cy="6066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09600" indent="-609600">
              <a:buSzPct val="123000"/>
              <a:buChar char="•"/>
              <a:defRPr sz="7000"/>
            </a:pPr>
            <a:r>
              <a:t>Cloud storage</a:t>
            </a:r>
          </a:p>
          <a:p>
            <a:pPr marL="609600" indent="-609600">
              <a:buSzPct val="123000"/>
              <a:buChar char="•"/>
              <a:defRPr sz="7000"/>
            </a:pPr>
            <a:r>
              <a:t>Fast updates</a:t>
            </a:r>
          </a:p>
          <a:p>
            <a:pPr marL="609600" indent="-609600">
              <a:buSzPct val="123000"/>
              <a:buChar char="•"/>
              <a:defRPr sz="7000"/>
            </a:pPr>
            <a:r>
              <a:t>iOS &amp; Android</a:t>
            </a:r>
          </a:p>
        </p:txBody>
      </p:sp>
      <p:sp>
        <p:nvSpPr>
          <p:cNvPr id="185" name="Business Goals:"/>
          <p:cNvSpPr txBox="1"/>
          <p:nvPr/>
        </p:nvSpPr>
        <p:spPr>
          <a:xfrm>
            <a:off x="369732" y="3852984"/>
            <a:ext cx="7302031" cy="944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825500">
              <a:lnSpc>
                <a:spcPct val="100000"/>
              </a:lnSpc>
              <a:spcBef>
                <a:spcPts val="0"/>
              </a:spcBef>
              <a:defRPr b="1" sz="5500"/>
            </a:lvl1pPr>
          </a:lstStyle>
          <a:p>
            <a:pPr/>
            <a:r>
              <a:t>Business Goals:</a:t>
            </a:r>
          </a:p>
        </p:txBody>
      </p:sp>
      <p:sp>
        <p:nvSpPr>
          <p:cNvPr id="186" name="Technology Goals:"/>
          <p:cNvSpPr txBox="1"/>
          <p:nvPr/>
        </p:nvSpPr>
        <p:spPr>
          <a:xfrm>
            <a:off x="11192109" y="3852984"/>
            <a:ext cx="9820738" cy="944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825500">
              <a:lnSpc>
                <a:spcPct val="100000"/>
              </a:lnSpc>
              <a:spcBef>
                <a:spcPts val="0"/>
              </a:spcBef>
              <a:defRPr b="1" sz="5500"/>
            </a:lvl1pPr>
          </a:lstStyle>
          <a:p>
            <a:pPr/>
            <a:r>
              <a:t>Technology Goals: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roject Scop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pc="-174" sz="8730"/>
            </a:lvl1pPr>
          </a:lstStyle>
          <a:p>
            <a:pPr/>
            <a:r>
              <a:t>Project Scope</a:t>
            </a:r>
          </a:p>
        </p:txBody>
      </p:sp>
      <p:sp>
        <p:nvSpPr>
          <p:cNvPr id="189" name="Backend API…"/>
          <p:cNvSpPr txBox="1"/>
          <p:nvPr>
            <p:ph type="body" sz="half" idx="1"/>
          </p:nvPr>
        </p:nvSpPr>
        <p:spPr>
          <a:xfrm>
            <a:off x="841470" y="4248504"/>
            <a:ext cx="10540145" cy="8256012"/>
          </a:xfrm>
          <a:prstGeom prst="rect">
            <a:avLst/>
          </a:prstGeom>
        </p:spPr>
        <p:txBody>
          <a:bodyPr/>
          <a:lstStyle/>
          <a:p>
            <a:pPr marL="481584" indent="-481584" defTabSz="1926287">
              <a:spcBef>
                <a:spcPts val="3500"/>
              </a:spcBef>
              <a:defRPr sz="5530"/>
            </a:pPr>
            <a:r>
              <a:t>Backend API</a:t>
            </a:r>
          </a:p>
          <a:p>
            <a:pPr marL="481584" indent="-481584" defTabSz="1926287">
              <a:spcBef>
                <a:spcPts val="3500"/>
              </a:spcBef>
              <a:defRPr sz="5530"/>
            </a:pPr>
            <a:r>
              <a:t>Web app</a:t>
            </a:r>
          </a:p>
          <a:p>
            <a:pPr marL="481584" indent="-481584" defTabSz="1926287">
              <a:spcBef>
                <a:spcPts val="3500"/>
              </a:spcBef>
              <a:defRPr sz="5530"/>
            </a:pPr>
            <a:r>
              <a:t>Mobile app</a:t>
            </a:r>
          </a:p>
          <a:p>
            <a:pPr marL="481584" indent="-481584" defTabSz="1926287">
              <a:spcBef>
                <a:spcPts val="3500"/>
              </a:spcBef>
              <a:defRPr sz="5530"/>
            </a:pPr>
            <a:r>
              <a:t>Historical price database</a:t>
            </a:r>
          </a:p>
          <a:p>
            <a:pPr marL="481584" indent="-481584" defTabSz="1926287">
              <a:spcBef>
                <a:spcPts val="3500"/>
              </a:spcBef>
              <a:defRPr sz="5530"/>
            </a:pPr>
            <a:r>
              <a:t>Deployment</a:t>
            </a:r>
          </a:p>
          <a:p>
            <a:pPr marL="481584" indent="-481584" defTabSz="1926287">
              <a:spcBef>
                <a:spcPts val="3500"/>
              </a:spcBef>
              <a:defRPr sz="5530"/>
            </a:pPr>
            <a:r>
              <a:t>Training</a:t>
            </a:r>
          </a:p>
          <a:p>
            <a:pPr marL="481584" indent="-481584" defTabSz="1926287">
              <a:spcBef>
                <a:spcPts val="3500"/>
              </a:spcBef>
              <a:defRPr sz="5530"/>
            </a:pPr>
            <a:r>
              <a:t>1 month of support</a:t>
            </a:r>
          </a:p>
        </p:txBody>
      </p:sp>
      <p:sp>
        <p:nvSpPr>
          <p:cNvPr id="190" name="In Scope:"/>
          <p:cNvSpPr txBox="1"/>
          <p:nvPr/>
        </p:nvSpPr>
        <p:spPr>
          <a:xfrm>
            <a:off x="698259" y="2870935"/>
            <a:ext cx="10540145" cy="1019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6000"/>
            </a:lvl1pPr>
          </a:lstStyle>
          <a:p>
            <a:pPr/>
            <a:r>
              <a:t>In Scope:</a:t>
            </a:r>
          </a:p>
        </p:txBody>
      </p:sp>
      <p:sp>
        <p:nvSpPr>
          <p:cNvPr id="191" name="AI-analysis…"/>
          <p:cNvSpPr txBox="1"/>
          <p:nvPr/>
        </p:nvSpPr>
        <p:spPr>
          <a:xfrm>
            <a:off x="12649428" y="4010474"/>
            <a:ext cx="10540145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09600" indent="-609600">
              <a:buSzPct val="123000"/>
              <a:buChar char="•"/>
              <a:defRPr sz="7000"/>
            </a:pPr>
            <a:r>
              <a:t>AI-analysis</a:t>
            </a:r>
          </a:p>
          <a:p>
            <a:pPr marL="609600" indent="-609600">
              <a:buSzPct val="123000"/>
              <a:buChar char="•"/>
              <a:defRPr sz="7000"/>
            </a:pPr>
            <a:r>
              <a:t>Advanced testing</a:t>
            </a:r>
          </a:p>
          <a:p>
            <a:pPr marL="609600" indent="-609600">
              <a:buSzPct val="123000"/>
              <a:buChar char="•"/>
              <a:defRPr sz="7000"/>
            </a:pPr>
            <a:r>
              <a:t>Marketing</a:t>
            </a:r>
          </a:p>
        </p:txBody>
      </p:sp>
      <p:sp>
        <p:nvSpPr>
          <p:cNvPr id="192" name="Out of Scope:"/>
          <p:cNvSpPr txBox="1"/>
          <p:nvPr/>
        </p:nvSpPr>
        <p:spPr>
          <a:xfrm>
            <a:off x="12649428" y="2870935"/>
            <a:ext cx="10540145" cy="1019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6000"/>
            </a:lvl1pPr>
          </a:lstStyle>
          <a:p>
            <a:pPr/>
            <a:r>
              <a:t>Out of Scope: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roject Organis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pc="-174" sz="8730"/>
            </a:lvl1pPr>
          </a:lstStyle>
          <a:p>
            <a:pPr/>
            <a:r>
              <a:t>Project Organisation</a:t>
            </a:r>
          </a:p>
        </p:txBody>
      </p:sp>
      <p:sp>
        <p:nvSpPr>
          <p:cNvPr id="195" name="PM: Daniil Ustiuhov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66927" indent="-566927" defTabSz="2267655">
              <a:spcBef>
                <a:spcPts val="4100"/>
              </a:spcBef>
              <a:defRPr sz="6510"/>
            </a:pPr>
            <a:r>
              <a:t>PM: Daniil Ustiuhov</a:t>
            </a:r>
          </a:p>
          <a:p>
            <a:pPr marL="566927" indent="-566927" defTabSz="2267655">
              <a:spcBef>
                <a:spcPts val="4100"/>
              </a:spcBef>
              <a:defRPr sz="6510"/>
            </a:pPr>
            <a:r>
              <a:t>Founder: Kyrylo Pryiomyshev</a:t>
            </a:r>
          </a:p>
          <a:p>
            <a:pPr marL="566927" indent="-566927" defTabSz="2267655">
              <a:spcBef>
                <a:spcPts val="4100"/>
              </a:spcBef>
              <a:defRPr sz="6510"/>
            </a:pPr>
            <a:r>
              <a:t>Dev Team: backend, mobile, web</a:t>
            </a:r>
          </a:p>
          <a:p>
            <a:pPr marL="566927" indent="-566927" defTabSz="2267655">
              <a:spcBef>
                <a:spcPts val="4100"/>
              </a:spcBef>
              <a:defRPr sz="6510"/>
            </a:pPr>
            <a:r>
              <a:t>UI/UX </a:t>
            </a:r>
          </a:p>
          <a:p>
            <a:pPr marL="566927" indent="-566927" defTabSz="2267655">
              <a:spcBef>
                <a:spcPts val="4100"/>
              </a:spcBef>
              <a:defRPr sz="6510"/>
            </a:pPr>
            <a:r>
              <a:t>QA</a:t>
            </a:r>
          </a:p>
          <a:p>
            <a:pPr marL="566927" indent="-566927" defTabSz="2267655">
              <a:spcBef>
                <a:spcPts val="4100"/>
              </a:spcBef>
              <a:defRPr sz="6510"/>
            </a:pPr>
            <a:r>
              <a:t>Cloud Providers (AWS/GCP)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Work Breakdown Structu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pc="-174" sz="8730"/>
            </a:lvl1pPr>
          </a:lstStyle>
          <a:p>
            <a:pPr/>
            <a:r>
              <a:t>Work Breakdown Structure</a:t>
            </a:r>
          </a:p>
        </p:txBody>
      </p:sp>
      <p:sp>
        <p:nvSpPr>
          <p:cNvPr id="198" name="Project Management…"/>
          <p:cNvSpPr txBox="1"/>
          <p:nvPr>
            <p:ph type="body" idx="1"/>
          </p:nvPr>
        </p:nvSpPr>
        <p:spPr>
          <a:xfrm>
            <a:off x="1206500" y="3263208"/>
            <a:ext cx="21971000" cy="9241308"/>
          </a:xfrm>
          <a:prstGeom prst="rect">
            <a:avLst/>
          </a:prstGeom>
        </p:spPr>
        <p:txBody>
          <a:bodyPr/>
          <a:lstStyle/>
          <a:p>
            <a:pPr marL="469391" indent="-469391" defTabSz="1877520">
              <a:spcBef>
                <a:spcPts val="3400"/>
              </a:spcBef>
              <a:defRPr sz="5390"/>
            </a:pPr>
            <a:r>
              <a:t>Project Management</a:t>
            </a:r>
          </a:p>
          <a:p>
            <a:pPr marL="469391" indent="-469391" defTabSz="1877520">
              <a:spcBef>
                <a:spcPts val="3400"/>
              </a:spcBef>
              <a:defRPr sz="5390"/>
            </a:pPr>
            <a:r>
              <a:t>Backend</a:t>
            </a:r>
          </a:p>
          <a:p>
            <a:pPr marL="469391" indent="-469391" defTabSz="1877520">
              <a:spcBef>
                <a:spcPts val="3400"/>
              </a:spcBef>
              <a:defRPr sz="5390"/>
            </a:pPr>
            <a:r>
              <a:t>Mobile</a:t>
            </a:r>
          </a:p>
          <a:p>
            <a:pPr marL="469391" indent="-469391" defTabSz="1877520">
              <a:spcBef>
                <a:spcPts val="3400"/>
              </a:spcBef>
              <a:defRPr sz="5390"/>
            </a:pPr>
            <a:r>
              <a:t>Web</a:t>
            </a:r>
          </a:p>
          <a:p>
            <a:pPr marL="469391" indent="-469391" defTabSz="1877520">
              <a:spcBef>
                <a:spcPts val="3400"/>
              </a:spcBef>
              <a:defRPr sz="5390"/>
            </a:pPr>
            <a:r>
              <a:t>UI/UX</a:t>
            </a:r>
          </a:p>
          <a:p>
            <a:pPr marL="469391" indent="-469391" defTabSz="1877520">
              <a:spcBef>
                <a:spcPts val="3400"/>
              </a:spcBef>
              <a:defRPr sz="5390"/>
            </a:pPr>
            <a:r>
              <a:t>Database &amp; Infrastructure</a:t>
            </a:r>
          </a:p>
          <a:p>
            <a:pPr marL="469391" indent="-469391" defTabSz="1877520">
              <a:spcBef>
                <a:spcPts val="3400"/>
              </a:spcBef>
              <a:defRPr sz="5390"/>
            </a:pPr>
            <a:r>
              <a:t>Testing</a:t>
            </a:r>
          </a:p>
          <a:p>
            <a:pPr marL="469391" indent="-469391" defTabSz="1877520">
              <a:spcBef>
                <a:spcPts val="3400"/>
              </a:spcBef>
              <a:defRPr sz="5390"/>
            </a:pPr>
            <a:r>
              <a:t>Deployment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chedule &amp; Mileston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pc="-174" sz="8730"/>
            </a:lvl1pPr>
          </a:lstStyle>
          <a:p>
            <a:pPr/>
            <a:r>
              <a:t>Schedule &amp; Milestones</a:t>
            </a:r>
          </a:p>
        </p:txBody>
      </p:sp>
      <p:sp>
        <p:nvSpPr>
          <p:cNvPr id="201" name="M0 - Start…"/>
          <p:cNvSpPr txBox="1"/>
          <p:nvPr>
            <p:ph type="body" idx="1"/>
          </p:nvPr>
        </p:nvSpPr>
        <p:spPr>
          <a:xfrm>
            <a:off x="1206500" y="3400380"/>
            <a:ext cx="21971000" cy="9104136"/>
          </a:xfrm>
          <a:prstGeom prst="rect">
            <a:avLst/>
          </a:prstGeom>
        </p:spPr>
        <p:txBody>
          <a:bodyPr/>
          <a:lstStyle/>
          <a:p>
            <a:pPr marL="530352" indent="-530352" defTabSz="2121354">
              <a:spcBef>
                <a:spcPts val="3900"/>
              </a:spcBef>
              <a:defRPr sz="6090"/>
            </a:pPr>
            <a:r>
              <a:t>M0 - Start</a:t>
            </a:r>
          </a:p>
          <a:p>
            <a:pPr marL="530352" indent="-530352" defTabSz="2121354">
              <a:spcBef>
                <a:spcPts val="3900"/>
              </a:spcBef>
              <a:defRPr sz="6090"/>
            </a:pPr>
            <a:r>
              <a:t>M1 - Requirements + UI</a:t>
            </a:r>
          </a:p>
          <a:p>
            <a:pPr marL="530352" indent="-530352" defTabSz="2121354">
              <a:spcBef>
                <a:spcPts val="3900"/>
              </a:spcBef>
              <a:defRPr sz="6090"/>
            </a:pPr>
            <a:r>
              <a:t>M2 - Backend MVP</a:t>
            </a:r>
          </a:p>
          <a:p>
            <a:pPr marL="530352" indent="-530352" defTabSz="2121354">
              <a:spcBef>
                <a:spcPts val="3900"/>
              </a:spcBef>
              <a:defRPr sz="6090"/>
            </a:pPr>
            <a:r>
              <a:t>M3 - Web MVP</a:t>
            </a:r>
          </a:p>
          <a:p>
            <a:pPr marL="530352" indent="-530352" defTabSz="2121354">
              <a:spcBef>
                <a:spcPts val="3900"/>
              </a:spcBef>
              <a:defRPr sz="6090"/>
            </a:pPr>
            <a:r>
              <a:t>M4 - Mobile MVP</a:t>
            </a:r>
          </a:p>
          <a:p>
            <a:pPr marL="530352" indent="-530352" defTabSz="2121354">
              <a:spcBef>
                <a:spcPts val="3900"/>
              </a:spcBef>
              <a:defRPr sz="6090"/>
            </a:pPr>
            <a:r>
              <a:t>M5 - Integration</a:t>
            </a:r>
          </a:p>
          <a:p>
            <a:pPr marL="530352" indent="-530352" defTabSz="2121354">
              <a:spcBef>
                <a:spcPts val="3900"/>
              </a:spcBef>
              <a:defRPr sz="6090"/>
            </a:pPr>
            <a:r>
              <a:t>M6 - Release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roject Budge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pc="-174" sz="8730"/>
            </a:lvl1pPr>
          </a:lstStyle>
          <a:p>
            <a:pPr/>
            <a:r>
              <a:t>Project Budget</a:t>
            </a:r>
          </a:p>
        </p:txBody>
      </p:sp>
      <p:sp>
        <p:nvSpPr>
          <p:cNvPr id="204" name="Total: €62,300…"/>
          <p:cNvSpPr txBox="1"/>
          <p:nvPr>
            <p:ph type="body" idx="1"/>
          </p:nvPr>
        </p:nvSpPr>
        <p:spPr>
          <a:xfrm>
            <a:off x="1206500" y="3175658"/>
            <a:ext cx="21971000" cy="9328858"/>
          </a:xfrm>
          <a:prstGeom prst="rect">
            <a:avLst/>
          </a:prstGeom>
        </p:spPr>
        <p:txBody>
          <a:bodyPr/>
          <a:lstStyle/>
          <a:p>
            <a:pPr marL="469391" indent="-469391" defTabSz="1877520">
              <a:spcBef>
                <a:spcPts val="3400"/>
              </a:spcBef>
              <a:defRPr sz="5390"/>
            </a:pPr>
            <a:r>
              <a:t>Total: €62,300</a:t>
            </a:r>
          </a:p>
          <a:p>
            <a:pPr marL="469391" indent="-469391" defTabSz="1877520">
              <a:spcBef>
                <a:spcPts val="3400"/>
              </a:spcBef>
              <a:defRPr sz="5390"/>
            </a:pPr>
            <a:r>
              <a:t>PM: €4,500</a:t>
            </a:r>
          </a:p>
          <a:p>
            <a:pPr marL="469391" indent="-469391" defTabSz="1877520">
              <a:spcBef>
                <a:spcPts val="3400"/>
              </a:spcBef>
              <a:defRPr sz="5390"/>
            </a:pPr>
            <a:r>
              <a:t>Backend: €21,000</a:t>
            </a:r>
          </a:p>
          <a:p>
            <a:pPr marL="469391" indent="-469391" defTabSz="1877520">
              <a:spcBef>
                <a:spcPts val="3400"/>
              </a:spcBef>
              <a:defRPr sz="5390"/>
            </a:pPr>
            <a:r>
              <a:t>Mobile: €17,500</a:t>
            </a:r>
          </a:p>
          <a:p>
            <a:pPr marL="469391" indent="-469391" defTabSz="1877520">
              <a:spcBef>
                <a:spcPts val="3400"/>
              </a:spcBef>
              <a:defRPr sz="5390"/>
            </a:pPr>
            <a:r>
              <a:t>Web: €10,500</a:t>
            </a:r>
          </a:p>
          <a:p>
            <a:pPr marL="469391" indent="-469391" defTabSz="1877520">
              <a:spcBef>
                <a:spcPts val="3400"/>
              </a:spcBef>
              <a:defRPr sz="5390"/>
            </a:pPr>
            <a:r>
              <a:t>UI/UX: €3,600</a:t>
            </a:r>
          </a:p>
          <a:p>
            <a:pPr marL="469391" indent="-469391" defTabSz="1877520">
              <a:spcBef>
                <a:spcPts val="3400"/>
              </a:spcBef>
              <a:defRPr sz="5390"/>
            </a:pPr>
            <a:r>
              <a:t>QA: €4,000</a:t>
            </a:r>
          </a:p>
          <a:p>
            <a:pPr marL="469391" indent="-469391" defTabSz="1877520">
              <a:spcBef>
                <a:spcPts val="3400"/>
              </a:spcBef>
              <a:defRPr sz="5390"/>
            </a:pPr>
            <a:r>
              <a:t>Servers: €1,200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isk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Risks</a:t>
            </a:r>
          </a:p>
        </p:txBody>
      </p:sp>
      <p:sp>
        <p:nvSpPr>
          <p:cNvPr id="207" name="Store API change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7000"/>
            </a:pPr>
            <a:r>
              <a:t>Store API changes</a:t>
            </a:r>
          </a:p>
          <a:p>
            <a:pPr>
              <a:defRPr sz="7000"/>
            </a:pPr>
            <a:r>
              <a:t>High load</a:t>
            </a:r>
          </a:p>
          <a:p>
            <a:pPr>
              <a:defRPr sz="7000"/>
            </a:pPr>
            <a:r>
              <a:t>Incorrect data</a:t>
            </a:r>
          </a:p>
          <a:p>
            <a:pPr>
              <a:defRPr sz="7000"/>
            </a:pPr>
            <a:r>
              <a:t>Overtime</a:t>
            </a:r>
          </a:p>
          <a:p>
            <a:pPr>
              <a:defRPr sz="7000"/>
            </a:pPr>
            <a:r>
              <a:t>Mitigation: parsers, scaling, caching, agile buffer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QA, Security, Deliver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QA, Security, Delivery</a:t>
            </a:r>
          </a:p>
        </p:txBody>
      </p:sp>
      <p:sp>
        <p:nvSpPr>
          <p:cNvPr id="210" name="QA:"/>
          <p:cNvSpPr txBox="1"/>
          <p:nvPr>
            <p:ph type="body" idx="21"/>
          </p:nvPr>
        </p:nvSpPr>
        <p:spPr>
          <a:xfrm>
            <a:off x="1206500" y="2827878"/>
            <a:ext cx="2643521" cy="11344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709930">
              <a:defRPr sz="6880"/>
            </a:lvl1pPr>
          </a:lstStyle>
          <a:p>
            <a:pPr/>
            <a:r>
              <a:t>QA:</a:t>
            </a:r>
          </a:p>
        </p:txBody>
      </p:sp>
      <p:sp>
        <p:nvSpPr>
          <p:cNvPr id="211" name="Manual…"/>
          <p:cNvSpPr txBox="1"/>
          <p:nvPr>
            <p:ph type="body" sz="quarter" idx="1"/>
          </p:nvPr>
        </p:nvSpPr>
        <p:spPr>
          <a:xfrm>
            <a:off x="1206499" y="4248504"/>
            <a:ext cx="6022901" cy="8256012"/>
          </a:xfrm>
          <a:prstGeom prst="rect">
            <a:avLst/>
          </a:prstGeom>
        </p:spPr>
        <p:txBody>
          <a:bodyPr/>
          <a:lstStyle/>
          <a:p>
            <a:pPr>
              <a:defRPr sz="7000"/>
            </a:pPr>
            <a:r>
              <a:t>Manual</a:t>
            </a:r>
          </a:p>
          <a:p>
            <a:pPr>
              <a:defRPr sz="7000"/>
            </a:pPr>
            <a:r>
              <a:t>Auto</a:t>
            </a:r>
          </a:p>
          <a:p>
            <a:pPr>
              <a:defRPr sz="7000"/>
            </a:pPr>
            <a:r>
              <a:t>UX tests</a:t>
            </a:r>
          </a:p>
          <a:p>
            <a:pPr>
              <a:defRPr sz="7000"/>
            </a:pPr>
            <a:r>
              <a:t>Performance</a:t>
            </a:r>
          </a:p>
        </p:txBody>
      </p:sp>
      <p:sp>
        <p:nvSpPr>
          <p:cNvPr id="212" name="Delivery:"/>
          <p:cNvSpPr txBox="1"/>
          <p:nvPr/>
        </p:nvSpPr>
        <p:spPr>
          <a:xfrm>
            <a:off x="14620589" y="2691705"/>
            <a:ext cx="4488634" cy="1613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8000"/>
            </a:lvl1pPr>
          </a:lstStyle>
          <a:p>
            <a:pPr/>
            <a:r>
              <a:t>Delivery:</a:t>
            </a:r>
          </a:p>
        </p:txBody>
      </p:sp>
      <p:sp>
        <p:nvSpPr>
          <p:cNvPr id="213" name="Security:"/>
          <p:cNvSpPr txBox="1"/>
          <p:nvPr/>
        </p:nvSpPr>
        <p:spPr>
          <a:xfrm>
            <a:off x="8396068" y="2691705"/>
            <a:ext cx="4637783" cy="1406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8000"/>
            </a:lvl1pPr>
          </a:lstStyle>
          <a:p>
            <a:pPr/>
            <a:r>
              <a:t>Security:</a:t>
            </a:r>
          </a:p>
        </p:txBody>
      </p:sp>
      <p:sp>
        <p:nvSpPr>
          <p:cNvPr id="214" name="MVPs (Web/Mobile…"/>
          <p:cNvSpPr txBox="1"/>
          <p:nvPr/>
        </p:nvSpPr>
        <p:spPr>
          <a:xfrm>
            <a:off x="14699584" y="4483777"/>
            <a:ext cx="8516511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09600" indent="-609600">
              <a:buSzPct val="123000"/>
              <a:buChar char="•"/>
              <a:defRPr sz="7000"/>
            </a:pPr>
            <a:r>
              <a:t>MVPs (Web/Mobile</a:t>
            </a:r>
          </a:p>
          <a:p>
            <a:pPr marL="609600" indent="-609600">
              <a:buSzPct val="123000"/>
              <a:buChar char="•"/>
              <a:defRPr sz="7000"/>
            </a:pPr>
            <a:r>
              <a:t>Full system</a:t>
            </a:r>
          </a:p>
        </p:txBody>
      </p:sp>
      <p:sp>
        <p:nvSpPr>
          <p:cNvPr id="215" name="HTTPS…"/>
          <p:cNvSpPr txBox="1"/>
          <p:nvPr/>
        </p:nvSpPr>
        <p:spPr>
          <a:xfrm>
            <a:off x="8104044" y="4375504"/>
            <a:ext cx="5720895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09600" indent="-609600">
              <a:buSzPct val="123000"/>
              <a:buChar char="•"/>
              <a:defRPr sz="7000"/>
            </a:pPr>
            <a:r>
              <a:t>HTTPS</a:t>
            </a:r>
          </a:p>
          <a:p>
            <a:pPr marL="609600" indent="-609600">
              <a:buSzPct val="123000"/>
              <a:buChar char="•"/>
              <a:defRPr sz="7000"/>
            </a:pPr>
            <a:r>
              <a:t>Token Auth</a:t>
            </a:r>
          </a:p>
          <a:p>
            <a:pPr marL="609600" indent="-609600">
              <a:buSzPct val="123000"/>
              <a:buChar char="•"/>
              <a:defRPr sz="7000"/>
            </a:pPr>
            <a:r>
              <a:t>Encryption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chnologi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pc="-174" sz="8730"/>
            </a:lvl1pPr>
          </a:lstStyle>
          <a:p>
            <a:pPr/>
            <a:r>
              <a:t>Technologies</a:t>
            </a:r>
          </a:p>
        </p:txBody>
      </p:sp>
      <p:sp>
        <p:nvSpPr>
          <p:cNvPr id="218" name="Flutter / React Native…"/>
          <p:cNvSpPr txBox="1"/>
          <p:nvPr>
            <p:ph type="body" idx="1"/>
          </p:nvPr>
        </p:nvSpPr>
        <p:spPr>
          <a:xfrm>
            <a:off x="1206500" y="3325663"/>
            <a:ext cx="21971000" cy="9178853"/>
          </a:xfrm>
          <a:prstGeom prst="rect">
            <a:avLst/>
          </a:prstGeom>
        </p:spPr>
        <p:txBody>
          <a:bodyPr/>
          <a:lstStyle/>
          <a:p>
            <a:pPr marL="542544" indent="-542544" defTabSz="2170121">
              <a:spcBef>
                <a:spcPts val="4000"/>
              </a:spcBef>
              <a:defRPr sz="6230"/>
            </a:pPr>
            <a:r>
              <a:t>Flutter / React Native</a:t>
            </a:r>
          </a:p>
          <a:p>
            <a:pPr marL="542544" indent="-542544" defTabSz="2170121">
              <a:spcBef>
                <a:spcPts val="4000"/>
              </a:spcBef>
              <a:defRPr sz="6230"/>
            </a:pPr>
            <a:r>
              <a:t>Node.js</a:t>
            </a:r>
          </a:p>
          <a:p>
            <a:pPr marL="542544" indent="-542544" defTabSz="2170121">
              <a:spcBef>
                <a:spcPts val="4000"/>
              </a:spcBef>
              <a:defRPr sz="6230"/>
            </a:pPr>
            <a:r>
              <a:t>SQL  / NoSQL</a:t>
            </a:r>
          </a:p>
          <a:p>
            <a:pPr marL="542544" indent="-542544" defTabSz="2170121">
              <a:spcBef>
                <a:spcPts val="4000"/>
              </a:spcBef>
              <a:defRPr sz="6230"/>
            </a:pPr>
            <a:r>
              <a:t>GitHub</a:t>
            </a:r>
          </a:p>
          <a:p>
            <a:pPr marL="542544" indent="-542544" defTabSz="2170121">
              <a:spcBef>
                <a:spcPts val="4000"/>
              </a:spcBef>
              <a:defRPr sz="6230"/>
            </a:pPr>
            <a:r>
              <a:t>Figma</a:t>
            </a:r>
          </a:p>
          <a:p>
            <a:pPr marL="542544" indent="-542544" defTabSz="2170121">
              <a:spcBef>
                <a:spcPts val="4000"/>
              </a:spcBef>
              <a:defRPr sz="6230"/>
            </a:pPr>
            <a:r>
              <a:t>AWS / GCP</a:t>
            </a:r>
          </a:p>
          <a:p>
            <a:pPr marL="542544" indent="-542544" defTabSz="2170121">
              <a:spcBef>
                <a:spcPts val="4000"/>
              </a:spcBef>
              <a:defRPr sz="6230"/>
            </a:pPr>
            <a:r>
              <a:t>Languages: EST / EN / RU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